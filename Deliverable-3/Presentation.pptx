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65" r:id="rId4"/>
    <p:sldId id="272" r:id="rId5"/>
    <p:sldId id="273" r:id="rId6"/>
    <p:sldId id="269" r:id="rId7"/>
    <p:sldId id="268" r:id="rId8"/>
    <p:sldId id="271" r:id="rId9"/>
    <p:sldId id="274" r:id="rId10"/>
    <p:sldId id="260" r:id="rId11"/>
    <p:sldId id="259" r:id="rId12"/>
    <p:sldId id="262" r:id="rId13"/>
    <p:sldId id="275" r:id="rId14"/>
    <p:sldId id="277" r:id="rId15"/>
    <p:sldId id="278" r:id="rId16"/>
    <p:sldId id="276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Urbanist" panose="020B0604020202020204" charset="0"/>
      <p:regular r:id="rId27"/>
      <p:bold r:id="rId28"/>
      <p:italic r:id="rId29"/>
      <p:boldItalic r:id="rId30"/>
    </p:embeddedFont>
    <p:embeddedFont>
      <p:font typeface="Urbanist Light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7BFBB6-1552-4306-9C11-1E36266496A9}">
  <a:tblStyle styleId="{757BFBB6-1552-4306-9C11-1E36266496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2" y="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AA0FF8B-35B2-28A4-41A0-B0765A37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C16F7678-F210-AF86-181B-0906B6F7C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4AA0A150-F063-F315-5D03-E888F2919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809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F108366E-52C5-E667-3DED-82C032CF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>
            <a:extLst>
              <a:ext uri="{FF2B5EF4-FFF2-40B4-BE49-F238E27FC236}">
                <a16:creationId xmlns:a16="http://schemas.microsoft.com/office/drawing/2014/main" id="{5F275E56-6F73-11E0-4C91-6EF71A968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>
            <a:extLst>
              <a:ext uri="{FF2B5EF4-FFF2-40B4-BE49-F238E27FC236}">
                <a16:creationId xmlns:a16="http://schemas.microsoft.com/office/drawing/2014/main" id="{0BBA780E-B3FE-42FC-119A-29DCAB7C3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55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820465"/>
            <a:ext cx="11029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3403401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284C7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SECURE P2P COMMUNICATION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05276" y="2353865"/>
            <a:ext cx="11581447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SHUSHCHAT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F8B485-A66A-B389-35E3-490D74946B22}"/>
              </a:ext>
            </a:extLst>
          </p:cNvPr>
          <p:cNvSpPr txBox="1"/>
          <p:nvPr/>
        </p:nvSpPr>
        <p:spPr>
          <a:xfrm>
            <a:off x="3777343" y="4451150"/>
            <a:ext cx="6487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Muhammad Bin Waseem 		2023403</a:t>
            </a:r>
          </a:p>
          <a:p>
            <a:r>
              <a:rPr lang="en-US" sz="1800" dirty="0">
                <a:solidFill>
                  <a:schemeClr val="bg2"/>
                </a:solidFill>
              </a:rPr>
              <a:t>Muhammad Shaheer		2023509</a:t>
            </a:r>
          </a:p>
          <a:p>
            <a:r>
              <a:rPr lang="en-US" sz="1800" dirty="0">
                <a:solidFill>
                  <a:schemeClr val="bg2"/>
                </a:solidFill>
              </a:rPr>
              <a:t>Muhammad Zaeem Nawaz 	2023550</a:t>
            </a:r>
            <a:endParaRPr lang="en-PK" sz="1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392584" y="501651"/>
            <a:ext cx="4434720" cy="171625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Urbanist"/>
              </a:rPr>
              <a:t>What is </a:t>
            </a:r>
            <a:r>
              <a:rPr lang="en-US" sz="5600" b="1" i="0" u="none" strike="noStrike" kern="1200" cap="none" dirty="0" err="1">
                <a:solidFill>
                  <a:schemeClr val="bg2"/>
                </a:solidFill>
                <a:latin typeface="+mj-lt"/>
                <a:ea typeface="+mj-ea"/>
                <a:cs typeface="+mj-cs"/>
                <a:sym typeface="Urbanist"/>
              </a:rPr>
              <a:t>ShushChat</a:t>
            </a:r>
            <a:r>
              <a:rPr lang="en-US" sz="56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Urbanist"/>
              </a:rPr>
              <a:t>?</a:t>
            </a:r>
            <a:endParaRPr lang="en-US" sz="560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3"/>
          <a:stretch/>
        </p:blipFill>
        <p:spPr>
          <a:xfrm>
            <a:off x="1351910" y="569788"/>
            <a:ext cx="4281815" cy="2408520"/>
          </a:xfrm>
          <a:prstGeom prst="rect">
            <a:avLst/>
          </a:prstGeom>
          <a:noFill/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Urbanist"/>
              </a:rPr>
              <a:t>Shushchat</a:t>
            </a:r>
            <a:r>
              <a:rPr lang="en-US" sz="20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Urbanist"/>
              </a:rPr>
              <a:t> is </a:t>
            </a:r>
            <a:r>
              <a:rPr lang="en-US" sz="2000" dirty="0"/>
              <a:t>a secure peer-to-peer (P2P) chat system, where messages are sent directly between peers with point-to-point encryption, eliminating the need for a central server. This system demonstrates practical networking concepts alongside core principles of secure software design, including encryption, authentication, and integrity verification.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/>
          <a:stretch/>
        </p:blipFill>
        <p:spPr>
          <a:xfrm>
            <a:off x="654351" y="3865140"/>
            <a:ext cx="4281815" cy="2408520"/>
          </a:xfrm>
          <a:prstGeom prst="rect">
            <a:avLst/>
          </a:prstGeom>
          <a:noFill/>
        </p:spPr>
      </p:pic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Peer-to-peer - Wikipedia">
            <a:extLst>
              <a:ext uri="{FF2B5EF4-FFF2-40B4-BE49-F238E27FC236}">
                <a16:creationId xmlns:a16="http://schemas.microsoft.com/office/drawing/2014/main" id="{B0A69600-89F4-C4E6-7093-7DCFB5899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951" y="501651"/>
            <a:ext cx="23812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F9DD1-2AA6-6F80-1D46-DAB45E362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74" y="4139523"/>
            <a:ext cx="4078967" cy="19558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18432"/>
            <a:ext cx="3486150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218432"/>
            <a:ext cx="3486150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218432"/>
            <a:ext cx="3486150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13707"/>
            <a:ext cx="2895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513707"/>
            <a:ext cx="2895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0100" y="2513707"/>
            <a:ext cx="28956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876300" y="4790182"/>
            <a:ext cx="289560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200" dirty="0"/>
              <a:t>Security Requirements and planning </a:t>
            </a:r>
          </a:p>
          <a:p>
            <a:pPr lvl="0" algn="ctr">
              <a:lnSpc>
                <a:spcPct val="160000"/>
              </a:lnSpc>
            </a:pPr>
            <a:r>
              <a:rPr lang="en-US" dirty="0"/>
              <a:t>Threat Modeling</a:t>
            </a:r>
            <a:endParaRPr dirty="0"/>
          </a:p>
        </p:txBody>
      </p:sp>
      <p:sp>
        <p:nvSpPr>
          <p:cNvPr id="213" name="Google Shape;213;p22"/>
          <p:cNvSpPr txBox="1"/>
          <p:nvPr/>
        </p:nvSpPr>
        <p:spPr>
          <a:xfrm>
            <a:off x="4648200" y="4790182"/>
            <a:ext cx="2895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200" dirty="0"/>
              <a:t>Initial Implementation</a:t>
            </a:r>
          </a:p>
          <a:p>
            <a:pPr lvl="0" algn="ctr">
              <a:lnSpc>
                <a:spcPct val="160000"/>
              </a:lnSpc>
            </a:pPr>
            <a:r>
              <a:rPr lang="en-US" sz="1200" dirty="0"/>
              <a:t>Secure Coding 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8420100" y="4790182"/>
            <a:ext cx="2895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200" dirty="0"/>
              <a:t>Security Testing Analysis</a:t>
            </a:r>
          </a:p>
          <a:p>
            <a:pPr lvl="0" algn="ctr">
              <a:lnSpc>
                <a:spcPct val="160000"/>
              </a:lnSpc>
            </a:pPr>
            <a:r>
              <a:rPr lang="en-US" sz="1200" dirty="0"/>
              <a:t>Secure code review </a:t>
            </a:r>
            <a:endParaRPr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DEVELOPMENT ROADMAP</a:t>
            </a:r>
            <a:endParaRPr dirty="0"/>
          </a:p>
        </p:txBody>
      </p:sp>
      <p:sp>
        <p:nvSpPr>
          <p:cNvPr id="219" name="Google Shape;219;p22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803910" y="4418707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Phase-1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4575810" y="4418707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Phase-2</a:t>
            </a:r>
            <a:endParaRPr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8347710" y="4418707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Phase-3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B54991-802C-9F35-0B14-EDE7E616E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" y="2432744"/>
            <a:ext cx="31146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C908E63-1262-8677-5051-CFF772A79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432743"/>
            <a:ext cx="31242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Top 12 Practices of Secure Coding | 2018-01-01 | Security Magazine">
            <a:extLst>
              <a:ext uri="{FF2B5EF4-FFF2-40B4-BE49-F238E27FC236}">
                <a16:creationId xmlns:a16="http://schemas.microsoft.com/office/drawing/2014/main" id="{1F329243-5A08-EFB2-3EAC-3860DCEA5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810" y="2486812"/>
            <a:ext cx="3114675" cy="181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46B1-C9D6-4A2D-B4C7-F4C862337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693987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Urbanist"/>
                <a:ea typeface="Urbanist"/>
                <a:cs typeface="Urbanist"/>
                <a:sym typeface="Urbanist"/>
              </a:rPr>
              <a:t>Deliverable-1</a:t>
            </a:r>
            <a:endParaRPr lang="en-PK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75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Core Security Requirements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762000" y="12573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62000" y="4329112"/>
            <a:ext cx="2133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895600" y="4329112"/>
            <a:ext cx="4800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696200" y="4329112"/>
            <a:ext cx="3733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762000" y="6186487"/>
            <a:ext cx="2133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2895600" y="6186487"/>
            <a:ext cx="4800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696200" y="6186487"/>
            <a:ext cx="3733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5527E-0D0B-02FC-FB0C-A236473E3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08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1225324" y="1771650"/>
            <a:ext cx="10191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Spoofing: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Attackers attempting to impersonate peers by stealing private keys or spoofing public identities.</a:t>
            </a:r>
            <a:endParaRPr sz="1800"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1225324" y="2743772"/>
            <a:ext cx="10191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Information Disclosure: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Potential leakage of credentials or chat history (PII) due to weak encryption or storage flaws.</a:t>
            </a:r>
            <a:endParaRPr sz="1800"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1225324" y="3795426"/>
            <a:ext cx="10191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Denial of Service (DoS):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Malicious peers flooding the network to cause "broadcast storms" and exhaust system resources.</a:t>
            </a:r>
            <a:endParaRPr sz="1800" dirty="0"/>
          </a:p>
        </p:txBody>
      </p:sp>
      <p:sp>
        <p:nvSpPr>
          <p:cNvPr id="217" name="Google Shape;217;p22"/>
          <p:cNvSpPr txBox="1"/>
          <p:nvPr/>
        </p:nvSpPr>
        <p:spPr>
          <a:xfrm>
            <a:off x="1225324" y="4781550"/>
            <a:ext cx="10191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Tampering: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Memory manipulation through abnormal access patterns or poisoning stored data via injection.</a:t>
            </a:r>
            <a:endParaRPr sz="1800" dirty="0"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" y="1843087"/>
            <a:ext cx="257175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6687" y="2838450"/>
            <a:ext cx="348342" cy="33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2269" y="3867150"/>
            <a:ext cx="293913" cy="338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269" y="4895849"/>
            <a:ext cx="274182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Threat Modelling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755EE218-6C0D-E9F1-16DD-44854C45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037C5498-44A6-8240-8F43-ADA2F4E0213A}"/>
              </a:ext>
            </a:extLst>
          </p:cNvPr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Risk Management</a:t>
            </a:r>
            <a:endParaRPr dirty="0"/>
          </a:p>
        </p:txBody>
      </p: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90A4171F-551B-AC69-BE60-B665C8FE91AA}"/>
              </a:ext>
            </a:extLst>
          </p:cNvPr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145;p18">
            <a:extLst>
              <a:ext uri="{FF2B5EF4-FFF2-40B4-BE49-F238E27FC236}">
                <a16:creationId xmlns:a16="http://schemas.microsoft.com/office/drawing/2014/main" id="{72BAF9BC-281E-33D2-4E57-CA27292DD0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142716"/>
              </p:ext>
            </p:extLst>
          </p:nvPr>
        </p:nvGraphicFramePr>
        <p:xfrm>
          <a:off x="1511301" y="1231298"/>
          <a:ext cx="9169398" cy="552887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25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4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13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Threat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Likelihood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70C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Mitigation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43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Spoofing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Compromise of user accounts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Ed25519 signing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43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Disclosure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Sensitive data leakage (PII)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AES-256 encryption at 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43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Tampering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Malicious payload manipulation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Input validation / Sanitization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43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Flooding-based service denial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Rate limiting &amp; allocation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B51D7DD5-4AAC-85A6-04BC-96FC249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>
            <a:extLst>
              <a:ext uri="{FF2B5EF4-FFF2-40B4-BE49-F238E27FC236}">
                <a16:creationId xmlns:a16="http://schemas.microsoft.com/office/drawing/2014/main" id="{E2CD0188-9956-10CB-E773-E9D5CF4DC0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>
            <a:extLst>
              <a:ext uri="{FF2B5EF4-FFF2-40B4-BE49-F238E27FC236}">
                <a16:creationId xmlns:a16="http://schemas.microsoft.com/office/drawing/2014/main" id="{5A0EED92-9300-D934-8EE9-AC209F388997}"/>
              </a:ext>
            </a:extLst>
          </p:cNvPr>
          <p:cNvSpPr txBox="1"/>
          <p:nvPr/>
        </p:nvSpPr>
        <p:spPr>
          <a:xfrm>
            <a:off x="762000" y="571500"/>
            <a:ext cx="112014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 Diagram</a:t>
            </a:r>
            <a:endParaRPr dirty="0"/>
          </a:p>
        </p:txBody>
      </p:sp>
      <p:sp>
        <p:nvSpPr>
          <p:cNvPr id="223" name="Google Shape;223;p22">
            <a:extLst>
              <a:ext uri="{FF2B5EF4-FFF2-40B4-BE49-F238E27FC236}">
                <a16:creationId xmlns:a16="http://schemas.microsoft.com/office/drawing/2014/main" id="{A0DC4341-2FCE-74AC-2A38-FA31A276C805}"/>
              </a:ext>
            </a:extLst>
          </p:cNvPr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1E6712-5E71-2A89-B1AC-551CA9464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45" y="1212403"/>
            <a:ext cx="7347812" cy="5493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945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DB78-92CA-AF10-5180-A92B482F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03D5-EAF3-EBA4-ED8B-89E982582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693987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Urbanist"/>
                <a:ea typeface="Urbanist"/>
                <a:cs typeface="Urbanist"/>
                <a:sym typeface="Urbanist"/>
              </a:rPr>
              <a:t>Deliverable-2</a:t>
            </a:r>
            <a:endParaRPr lang="en-PK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66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/>
        </p:nvSpPr>
        <p:spPr>
          <a:xfrm>
            <a:off x="581025" y="2328862"/>
            <a:ext cx="52292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ShushChat_v1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utilizes a modular codebase for maximum security isolation:</a:t>
            </a:r>
            <a:endParaRPr sz="20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533400" y="353853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networking.py: TCP Socket management and peer state.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3976687"/>
            <a:ext cx="52292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crypto.py: RSA/AES hybrid encryption routines.</a:t>
            </a:r>
            <a:endParaRPr sz="16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581025" y="4471987"/>
            <a:ext cx="52292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gui.py: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TKinter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-based responsive chat interface.</a:t>
            </a:r>
            <a:endParaRPr sz="160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81025" y="4967287"/>
            <a:ext cx="52292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main.py: Threaded orchestration of the P2P lifecycle.</a:t>
            </a:r>
            <a:endParaRPr sz="1600" dirty="0"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687" y="36814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211" y="41163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737" y="462455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062701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Deliverable-2</a:t>
            </a:r>
            <a:endParaRPr dirty="0"/>
          </a:p>
        </p:txBody>
      </p:sp>
      <p:sp>
        <p:nvSpPr>
          <p:cNvPr id="148" name="Google Shape;148;p17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18DE7E-C4F7-0646-163D-088757A2DD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328862"/>
            <a:ext cx="5611102" cy="29576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0762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90762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90762"/>
            <a:ext cx="34861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71550" y="389096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Direct socket-to-socket interaction between nodes. Scalability is limited only by network bandwidth.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4743450" y="389096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Encryption happens at the edge. Keys never leave the local device, ensuring zero-knowledge transit.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8515350" y="389096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Abstracting complex network protocols into a simple, reactive GUI built for immediate adoption.</a:t>
            </a:r>
            <a:endParaRPr dirty="0"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719387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3450" y="27193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5350" y="2719387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CORE SYSTEM PILLARS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71550" y="34242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Pure P2P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4743450" y="34242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E2EE Logic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8515350" y="34242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Fluid Interface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6381750" y="2757487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We employ a 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Hybrid Encryption System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6457950" y="33004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6572250" y="33004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RSA-4096: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Secure key exchange for the initial handshake.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6457950" y="3748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6572250" y="37480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AES-256-CBC: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High-speed encryption for the message payload.</a:t>
            </a:r>
            <a:endParaRPr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6457950" y="45005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72250" y="45005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SHA-256 HMAC: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Ensuring message integrity and authenticity.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CRYPTOGRAPHIC DEFENSE</a:t>
            </a:r>
            <a:endParaRPr dirty="0"/>
          </a:p>
        </p:txBody>
      </p:sp>
      <p:sp>
        <p:nvSpPr>
          <p:cNvPr id="181" name="Google Shape;181;p19"/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381750" y="253841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Multi-Layer Shield</a:t>
            </a:r>
            <a:endParaRPr dirty="0"/>
          </a:p>
        </p:txBody>
      </p:sp>
      <p:pic>
        <p:nvPicPr>
          <p:cNvPr id="3074" name="Picture 2" descr="Cloud security concept shield and swords protecting data | Premium  AI-generated image">
            <a:extLst>
              <a:ext uri="{FF2B5EF4-FFF2-40B4-BE49-F238E27FC236}">
                <a16:creationId xmlns:a16="http://schemas.microsoft.com/office/drawing/2014/main" id="{CC262D24-DF2C-4CC0-7E0B-3DBCBEB79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071687"/>
            <a:ext cx="4352925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8B10-934D-2A17-5E9E-F555F015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5FA4-30FF-D77D-3147-037A138CA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693987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Urbanist"/>
                <a:ea typeface="Urbanist"/>
                <a:cs typeface="Urbanist"/>
                <a:sym typeface="Urbanist"/>
              </a:rPr>
              <a:t>Deliverable-3</a:t>
            </a:r>
            <a:endParaRPr lang="en-PK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758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;p19">
            <a:extLst>
              <a:ext uri="{FF2B5EF4-FFF2-40B4-BE49-F238E27FC236}">
                <a16:creationId xmlns:a16="http://schemas.microsoft.com/office/drawing/2014/main" id="{50241499-FBC5-C8C5-20BA-7584363162FD}"/>
              </a:ext>
            </a:extLst>
          </p:cNvPr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60C92-0E88-AF3F-563B-D2A34DCC5145}"/>
              </a:ext>
            </a:extLst>
          </p:cNvPr>
          <p:cNvSpPr txBox="1"/>
          <p:nvPr/>
        </p:nvSpPr>
        <p:spPr>
          <a:xfrm>
            <a:off x="685800" y="534084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ADDED FEATURES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825D1-B188-A17A-4422-C0211A4DEB61}"/>
              </a:ext>
            </a:extLst>
          </p:cNvPr>
          <p:cNvSpPr txBox="1"/>
          <p:nvPr/>
        </p:nvSpPr>
        <p:spPr>
          <a:xfrm>
            <a:off x="931178" y="2080470"/>
            <a:ext cx="10253128" cy="263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Network-layer hardening and fail-secure mechanisms.</a:t>
            </a:r>
          </a:p>
          <a:p>
            <a:endParaRPr lang="en-US" sz="1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Rate Limiting: </a:t>
            </a:r>
            <a:r>
              <a:rPr lang="en-US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Sliding-window limiter restricts peers to 30 messages (256 KB) per 5-second interval.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Resource Caps: </a:t>
            </a:r>
            <a:r>
              <a:rPr lang="en-US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Hard connection limit of 32 concurrent peers to prevent socket exhaustion attacks.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Frame Validation: </a:t>
            </a:r>
            <a:r>
              <a:rPr lang="en-US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Strict enforcement of MIN/MAX_MSG_SIZE (512 KB) before any memory allocation.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Fail-Secure Design:</a:t>
            </a:r>
            <a:r>
              <a:rPr lang="en-US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Immediate connection termination upon detecting malformed frames or decryption anomalies.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Timeouts:</a:t>
            </a:r>
            <a:r>
              <a:rPr lang="en-US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Integrated receive timeouts to prevent.</a:t>
            </a:r>
            <a:endParaRPr lang="en-GB" sz="1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496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;p19">
            <a:extLst>
              <a:ext uri="{FF2B5EF4-FFF2-40B4-BE49-F238E27FC236}">
                <a16:creationId xmlns:a16="http://schemas.microsoft.com/office/drawing/2014/main" id="{6B4C87ED-93F6-27C9-FDEF-14023F9FB704}"/>
              </a:ext>
            </a:extLst>
          </p:cNvPr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EA0D5-B18B-8EA5-0C18-05CFBFB5CFF9}"/>
              </a:ext>
            </a:extLst>
          </p:cNvPr>
          <p:cNvSpPr txBox="1"/>
          <p:nvPr/>
        </p:nvSpPr>
        <p:spPr>
          <a:xfrm>
            <a:off x="685800" y="534084"/>
            <a:ext cx="7392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INITIAL TESTS : VULNERABILITIES</a:t>
            </a:r>
            <a:endParaRPr lang="en-US" sz="3600" dirty="0"/>
          </a:p>
        </p:txBody>
      </p:sp>
      <p:pic>
        <p:nvPicPr>
          <p:cNvPr id="6" name="Google Shape;117;p16" descr="image.png">
            <a:extLst>
              <a:ext uri="{FF2B5EF4-FFF2-40B4-BE49-F238E27FC236}">
                <a16:creationId xmlns:a16="http://schemas.microsoft.com/office/drawing/2014/main" id="{8CA3B203-53C2-2B0F-9CA5-09AEC755BA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2290762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8;p16" descr="image.png">
            <a:extLst>
              <a:ext uri="{FF2B5EF4-FFF2-40B4-BE49-F238E27FC236}">
                <a16:creationId xmlns:a16="http://schemas.microsoft.com/office/drawing/2014/main" id="{2F849521-CF65-3C76-A14A-F9166DB254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9549" y="2290762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EFCEAC04-E4F1-B9FC-957C-5BABEFF31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23" y="2489546"/>
            <a:ext cx="247650" cy="276225"/>
          </a:xfrm>
          <a:prstGeom prst="rect">
            <a:avLst/>
          </a:prstGeom>
        </p:spPr>
      </p:pic>
      <p:sp>
        <p:nvSpPr>
          <p:cNvPr id="20" name="Google Shape;122;p16">
            <a:extLst>
              <a:ext uri="{FF2B5EF4-FFF2-40B4-BE49-F238E27FC236}">
                <a16:creationId xmlns:a16="http://schemas.microsoft.com/office/drawing/2014/main" id="{FAFDCB95-B5D9-8984-6427-DECE83D0AC93}"/>
              </a:ext>
            </a:extLst>
          </p:cNvPr>
          <p:cNvSpPr txBox="1"/>
          <p:nvPr/>
        </p:nvSpPr>
        <p:spPr>
          <a:xfrm>
            <a:off x="8610425" y="3140844"/>
            <a:ext cx="27051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Absence of rate limiting enabled "Broadcast Storms" where malicious nodes could flood peers and exhaust system resources.</a:t>
            </a:r>
            <a:endParaRPr dirty="0"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5160BA90-2E00-C036-3EA0-019DFF4E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522" y="2489547"/>
            <a:ext cx="266700" cy="276225"/>
          </a:xfrm>
          <a:prstGeom prst="rect">
            <a:avLst/>
          </a:prstGeom>
        </p:spPr>
      </p:pic>
      <p:sp>
        <p:nvSpPr>
          <p:cNvPr id="23" name="Google Shape;130;p16">
            <a:extLst>
              <a:ext uri="{FF2B5EF4-FFF2-40B4-BE49-F238E27FC236}">
                <a16:creationId xmlns:a16="http://schemas.microsoft.com/office/drawing/2014/main" id="{6FF6991D-FEEC-F40C-4CF0-75C7A9B3B26D}"/>
              </a:ext>
            </a:extLst>
          </p:cNvPr>
          <p:cNvSpPr txBox="1"/>
          <p:nvPr/>
        </p:nvSpPr>
        <p:spPr>
          <a:xfrm>
            <a:off x="8644522" y="2851358"/>
            <a:ext cx="28403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DoS Susceptibility</a:t>
            </a:r>
            <a:endParaRPr dirty="0"/>
          </a:p>
        </p:txBody>
      </p:sp>
      <p:pic>
        <p:nvPicPr>
          <p:cNvPr id="25" name="Google Shape;118;p16" descr="image.png">
            <a:extLst>
              <a:ext uri="{FF2B5EF4-FFF2-40B4-BE49-F238E27FC236}">
                <a16:creationId xmlns:a16="http://schemas.microsoft.com/office/drawing/2014/main" id="{205B1F59-AFC0-88C6-536B-226CED6A8B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577" y="2290762"/>
            <a:ext cx="34861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29;p16">
            <a:extLst>
              <a:ext uri="{FF2B5EF4-FFF2-40B4-BE49-F238E27FC236}">
                <a16:creationId xmlns:a16="http://schemas.microsoft.com/office/drawing/2014/main" id="{593AB243-A6F9-830C-6EEC-8498626B3568}"/>
              </a:ext>
            </a:extLst>
          </p:cNvPr>
          <p:cNvSpPr txBox="1"/>
          <p:nvPr/>
        </p:nvSpPr>
        <p:spPr>
          <a:xfrm>
            <a:off x="4675822" y="2868564"/>
            <a:ext cx="28403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Information Leakage</a:t>
            </a: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FC5C1A4A-F215-B7F6-7C04-6433BCB0D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822" y="2489546"/>
            <a:ext cx="266700" cy="276225"/>
          </a:xfrm>
          <a:prstGeom prst="rect">
            <a:avLst/>
          </a:prstGeom>
        </p:spPr>
      </p:pic>
      <p:sp>
        <p:nvSpPr>
          <p:cNvPr id="30" name="Google Shape;121;p16">
            <a:extLst>
              <a:ext uri="{FF2B5EF4-FFF2-40B4-BE49-F238E27FC236}">
                <a16:creationId xmlns:a16="http://schemas.microsoft.com/office/drawing/2014/main" id="{27B9DC36-2C71-88CA-524F-AE41224D2CAE}"/>
              </a:ext>
            </a:extLst>
          </p:cNvPr>
          <p:cNvSpPr txBox="1"/>
          <p:nvPr/>
        </p:nvSpPr>
        <p:spPr>
          <a:xfrm>
            <a:off x="4675822" y="3174523"/>
            <a:ext cx="27051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Weak room password handling (unsalted SHA-256) and transmission of hashes in payloads exposed credentials to brute-force attacks.</a:t>
            </a:r>
            <a:endParaRPr dirty="0"/>
          </a:p>
        </p:txBody>
      </p:sp>
      <p:sp>
        <p:nvSpPr>
          <p:cNvPr id="31" name="Google Shape;120;p16">
            <a:extLst>
              <a:ext uri="{FF2B5EF4-FFF2-40B4-BE49-F238E27FC236}">
                <a16:creationId xmlns:a16="http://schemas.microsoft.com/office/drawing/2014/main" id="{BA6A3FAF-1AC3-9DE0-92E8-AB8B34B6EEE1}"/>
              </a:ext>
            </a:extLst>
          </p:cNvPr>
          <p:cNvSpPr txBox="1"/>
          <p:nvPr/>
        </p:nvSpPr>
        <p:spPr>
          <a:xfrm>
            <a:off x="707123" y="3174522"/>
            <a:ext cx="27051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Lack of peer identity verification allowed Man-in-the-Middle (MitM) attacks during X25519 handshakes. Public keys were unverifiable.</a:t>
            </a:r>
            <a:endParaRPr dirty="0"/>
          </a:p>
        </p:txBody>
      </p:sp>
      <p:sp>
        <p:nvSpPr>
          <p:cNvPr id="32" name="Google Shape;128;p16">
            <a:extLst>
              <a:ext uri="{FF2B5EF4-FFF2-40B4-BE49-F238E27FC236}">
                <a16:creationId xmlns:a16="http://schemas.microsoft.com/office/drawing/2014/main" id="{A7982A9E-8916-688C-A242-7A92FC7D48A9}"/>
              </a:ext>
            </a:extLst>
          </p:cNvPr>
          <p:cNvSpPr txBox="1"/>
          <p:nvPr/>
        </p:nvSpPr>
        <p:spPr>
          <a:xfrm>
            <a:off x="707123" y="2867878"/>
            <a:ext cx="2840355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Spoofing Threats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052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E222C5-0A0B-5C2E-A92F-20423A6E7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047498"/>
              </p:ext>
            </p:extLst>
          </p:nvPr>
        </p:nvGraphicFramePr>
        <p:xfrm>
          <a:off x="746619" y="2477770"/>
          <a:ext cx="8355434" cy="3008632"/>
        </p:xfrm>
        <a:graphic>
          <a:graphicData uri="http://schemas.openxmlformats.org/drawingml/2006/table">
            <a:tbl>
              <a:tblPr firstRow="1" firstCol="1" bandRow="1">
                <a:tableStyleId>{757BFBB6-1552-4306-9C11-1E36266496A9}</a:tableStyleId>
              </a:tblPr>
              <a:tblGrid>
                <a:gridCol w="1785349">
                  <a:extLst>
                    <a:ext uri="{9D8B030D-6E8A-4147-A177-3AD203B41FA5}">
                      <a16:colId xmlns:a16="http://schemas.microsoft.com/office/drawing/2014/main" val="641027640"/>
                    </a:ext>
                  </a:extLst>
                </a:gridCol>
                <a:gridCol w="1785349">
                  <a:extLst>
                    <a:ext uri="{9D8B030D-6E8A-4147-A177-3AD203B41FA5}">
                      <a16:colId xmlns:a16="http://schemas.microsoft.com/office/drawing/2014/main" val="3883759347"/>
                    </a:ext>
                  </a:extLst>
                </a:gridCol>
                <a:gridCol w="1785349">
                  <a:extLst>
                    <a:ext uri="{9D8B030D-6E8A-4147-A177-3AD203B41FA5}">
                      <a16:colId xmlns:a16="http://schemas.microsoft.com/office/drawing/2014/main" val="633682977"/>
                    </a:ext>
                  </a:extLst>
                </a:gridCol>
                <a:gridCol w="1214038">
                  <a:extLst>
                    <a:ext uri="{9D8B030D-6E8A-4147-A177-3AD203B41FA5}">
                      <a16:colId xmlns:a16="http://schemas.microsoft.com/office/drawing/2014/main" val="462824559"/>
                    </a:ext>
                  </a:extLst>
                </a:gridCol>
                <a:gridCol w="1785349">
                  <a:extLst>
                    <a:ext uri="{9D8B030D-6E8A-4147-A177-3AD203B41FA5}">
                      <a16:colId xmlns:a16="http://schemas.microsoft.com/office/drawing/2014/main" val="3370106734"/>
                    </a:ext>
                  </a:extLst>
                </a:gridCol>
              </a:tblGrid>
              <a:tr h="441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Tool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Before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After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Change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Verdict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840034903"/>
                  </a:ext>
                </a:extLst>
              </a:tr>
              <a:tr h="38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 dirty="0">
                          <a:effectLst/>
                        </a:rPr>
                        <a:t>Bandit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9 issues (7L, 2M)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1 issue (1M)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−89%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Major Improvement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575248482"/>
                  </a:ext>
                </a:extLst>
              </a:tr>
              <a:tr h="38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 dirty="0" err="1">
                          <a:effectLst/>
                        </a:rPr>
                        <a:t>Pylint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7.65/10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8.13/10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+0.48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Improvement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3674426307"/>
                  </a:ext>
                </a:extLst>
              </a:tr>
              <a:tr h="38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 dirty="0">
                          <a:effectLst/>
                        </a:rPr>
                        <a:t>Radon MI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C (gui), A (others)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C (gui), A (others)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Minimal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Stable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598122725"/>
                  </a:ext>
                </a:extLst>
              </a:tr>
              <a:tr h="38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Radon Raw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1,911 total SLOC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1,984 total SLOC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+3.8%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Minor Growth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5444156"/>
                  </a:ext>
                </a:extLst>
              </a:tr>
              <a:tr h="618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Nmap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Handshake JSON exposed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No probe data leaked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Improved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 dirty="0">
                          <a:effectLst/>
                        </a:rPr>
                        <a:t>Security Gain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4294717143"/>
                  </a:ext>
                </a:extLst>
              </a:tr>
              <a:tr h="38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Wireshark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Handshake visible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Obfuscated (inferred)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Improved</a:t>
                      </a:r>
                      <a:endParaRPr lang="en-GB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 dirty="0">
                          <a:effectLst/>
                        </a:rPr>
                        <a:t>Security Gain</a:t>
                      </a:r>
                      <a:endParaRPr lang="en-GB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20283009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F831F9-85AC-EB87-D3E1-5734729AC987}"/>
              </a:ext>
            </a:extLst>
          </p:cNvPr>
          <p:cNvSpPr txBox="1"/>
          <p:nvPr/>
        </p:nvSpPr>
        <p:spPr>
          <a:xfrm>
            <a:off x="746619" y="1887865"/>
            <a:ext cx="6644082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500" dirty="0"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The following table consolidates the key findings across all </a:t>
            </a:r>
            <a:r>
              <a:rPr lang="en-GB" sz="15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five</a:t>
            </a:r>
            <a:r>
              <a:rPr lang="en-GB" sz="1500" dirty="0"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testing tools:</a:t>
            </a: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sp>
        <p:nvSpPr>
          <p:cNvPr id="7" name="Google Shape;181;p19">
            <a:extLst>
              <a:ext uri="{FF2B5EF4-FFF2-40B4-BE49-F238E27FC236}">
                <a16:creationId xmlns:a16="http://schemas.microsoft.com/office/drawing/2014/main" id="{74659886-764B-6F64-47DF-066FB4914CCC}"/>
              </a:ext>
            </a:extLst>
          </p:cNvPr>
          <p:cNvSpPr/>
          <p:nvPr/>
        </p:nvSpPr>
        <p:spPr>
          <a:xfrm>
            <a:off x="581025" y="581025"/>
            <a:ext cx="76200" cy="552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016C2-304D-6C3C-AFC9-9257B30A0DE1}"/>
              </a:ext>
            </a:extLst>
          </p:cNvPr>
          <p:cNvSpPr txBox="1"/>
          <p:nvPr/>
        </p:nvSpPr>
        <p:spPr>
          <a:xfrm>
            <a:off x="746619" y="534084"/>
            <a:ext cx="6576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OVERALL SUMMARY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419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132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Times New Roman</vt:lpstr>
      <vt:lpstr>Urbanist</vt:lpstr>
      <vt:lpstr>Calibri</vt:lpstr>
      <vt:lpstr>Poppins</vt:lpstr>
      <vt:lpstr>Urbanist Light</vt:lpstr>
      <vt:lpstr>Lato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Deliverable-1</vt:lpstr>
      <vt:lpstr>PowerPoint Presentation</vt:lpstr>
      <vt:lpstr>PowerPoint Presentation</vt:lpstr>
      <vt:lpstr>PowerPoint Presentation</vt:lpstr>
      <vt:lpstr>PowerPoint Presentation</vt:lpstr>
      <vt:lpstr>Deliverable-2</vt:lpstr>
      <vt:lpstr>PowerPoint Presentation</vt:lpstr>
      <vt:lpstr>PowerPoint Presentation</vt:lpstr>
      <vt:lpstr>PowerPoint Presentation</vt:lpstr>
      <vt:lpstr>Deliverable-3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Zaeem</dc:creator>
  <cp:lastModifiedBy>u2023550</cp:lastModifiedBy>
  <cp:revision>3</cp:revision>
  <dcterms:modified xsi:type="dcterms:W3CDTF">2026-05-05T18:58:08Z</dcterms:modified>
</cp:coreProperties>
</file>